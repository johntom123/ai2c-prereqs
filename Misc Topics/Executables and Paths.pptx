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4" r:id="rId9"/>
    <p:sldId id="270" r:id="rId10"/>
    <p:sldId id="268" r:id="rId11"/>
    <p:sldId id="269" r:id="rId12"/>
    <p:sldId id="263"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954" autoAdjust="0"/>
  </p:normalViewPr>
  <p:slideViewPr>
    <p:cSldViewPr snapToGrid="0">
      <p:cViewPr varScale="1">
        <p:scale>
          <a:sx n="65" d="100"/>
          <a:sy n="65" d="100"/>
        </p:scale>
        <p:origin x="13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https://en.wikipedia.org/wiki/Executable_and_Linkable_Format</a:t>
            </a:r>
          </a:p>
          <a:p>
            <a:r>
              <a:rPr lang="en-US" dirty="0"/>
              <a:t>https://en.wikipedia.org/wiki/Portable_Executable</a:t>
            </a:r>
          </a:p>
        </p:txBody>
      </p:sp>
      <p:sp>
        <p:nvSpPr>
          <p:cNvPr id="4" name="Slide Number Placeholder 3"/>
          <p:cNvSpPr>
            <a:spLocks noGrp="1"/>
          </p:cNvSpPr>
          <p:nvPr>
            <p:ph type="sldNum" sz="quarter" idx="5"/>
          </p:nvPr>
        </p:nvSpPr>
        <p:spPr/>
        <p:txBody>
          <a:bodyPr/>
          <a:lstStyle/>
          <a:p>
            <a:fld id="{BE457D5F-ED05-449E-97D0-205DAB987247}" type="slidenum">
              <a:rPr lang="en-US" smtClean="0"/>
              <a:t>2</a:t>
            </a:fld>
            <a:endParaRPr lang="en-US"/>
          </a:p>
        </p:txBody>
      </p:sp>
    </p:spTree>
    <p:extLst>
      <p:ext uri="{BB962C8B-B14F-4D97-AF65-F5344CB8AC3E}">
        <p14:creationId xmlns:p14="http://schemas.microsoft.com/office/powerpoint/2010/main" val="248571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11</a:t>
            </a:fld>
            <a:endParaRPr lang="en-US"/>
          </a:p>
        </p:txBody>
      </p:sp>
    </p:spTree>
    <p:extLst>
      <p:ext uri="{BB962C8B-B14F-4D97-AF65-F5344CB8AC3E}">
        <p14:creationId xmlns:p14="http://schemas.microsoft.com/office/powerpoint/2010/main" val="2506943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one is the version of python pulled from PATH</a:t>
            </a:r>
          </a:p>
          <a:p>
            <a:r>
              <a:rPr lang="en-US" dirty="0"/>
              <a:t>Middle one is the active interpreter that VS Code is using to do syntax highlighting</a:t>
            </a:r>
          </a:p>
          <a:p>
            <a:r>
              <a:rPr lang="en-US" dirty="0"/>
              <a:t>Bottom one is the virtual environment’s interpreter that is being used by the </a:t>
            </a:r>
            <a:r>
              <a:rPr lang="en-US" dirty="0" err="1"/>
              <a:t>Jupyter</a:t>
            </a:r>
            <a:r>
              <a:rPr lang="en-US" dirty="0"/>
              <a:t> Notebook kernel</a:t>
            </a:r>
          </a:p>
          <a:p>
            <a:endParaRPr lang="en-US" dirty="0"/>
          </a:p>
          <a:p>
            <a:r>
              <a:rPr lang="en-US" dirty="0"/>
              <a:t>All three are pointing to different python executables!</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2066581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larger view of the previous screenshots</a:t>
            </a:r>
          </a:p>
          <a:p>
            <a:endParaRPr lang="en-US" dirty="0"/>
          </a:p>
          <a:p>
            <a:r>
              <a:rPr lang="en-US" dirty="0"/>
              <a:t>Read the command that VS Code enters for you when you press the play button (in blue text in the bottom terminal).  They type the full path to the exe and then the full path to your python script.</a:t>
            </a:r>
          </a:p>
          <a:p>
            <a:endParaRPr lang="en-US" dirty="0"/>
          </a:p>
          <a:p>
            <a:r>
              <a:rPr lang="en-US" dirty="0"/>
              <a:t>Note that even though python --version shows 3.13.5 and the </a:t>
            </a:r>
            <a:r>
              <a:rPr lang="en-US" dirty="0" err="1"/>
              <a:t>venv</a:t>
            </a:r>
            <a:r>
              <a:rPr lang="en-US" dirty="0"/>
              <a:t> also shows 3.13.5, they’re actually both pointing to separate executable files.</a:t>
            </a:r>
          </a:p>
        </p:txBody>
      </p:sp>
      <p:sp>
        <p:nvSpPr>
          <p:cNvPr id="4" name="Slide Number Placeholder 3"/>
          <p:cNvSpPr>
            <a:spLocks noGrp="1"/>
          </p:cNvSpPr>
          <p:nvPr>
            <p:ph type="sldNum" sz="quarter" idx="5"/>
          </p:nvPr>
        </p:nvSpPr>
        <p:spPr/>
        <p:txBody>
          <a:bodyPr/>
          <a:lstStyle/>
          <a:p>
            <a:fld id="{BE457D5F-ED05-449E-97D0-205DAB987247}" type="slidenum">
              <a:rPr lang="en-US" smtClean="0"/>
              <a:t>14</a:t>
            </a:fld>
            <a:endParaRPr lang="en-US"/>
          </a:p>
        </p:txBody>
      </p:sp>
    </p:spTree>
    <p:extLst>
      <p:ext uri="{BB962C8B-B14F-4D97-AF65-F5344CB8AC3E}">
        <p14:creationId xmlns:p14="http://schemas.microsoft.com/office/powerpoint/2010/main" val="3759656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A7085-A543-8085-1544-240C54D586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57458A-EEE9-CEDC-C931-6AB829F8D4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D36306-7BF7-4035-47E9-00E6CCC1E70E}"/>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5" name="Footer Placeholder 4">
            <a:extLst>
              <a:ext uri="{FF2B5EF4-FFF2-40B4-BE49-F238E27FC236}">
                <a16:creationId xmlns:a16="http://schemas.microsoft.com/office/drawing/2014/main" id="{33AC7D91-1D65-2565-8F6A-B48AC84CDD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0C386-662B-DF8A-5482-A5AAC6F016D8}"/>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0084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956C0-4CFE-91BE-4B30-D211D39B3D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7B759D-0F84-ED09-24DA-C72813FE8B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5861C-9345-6F47-7687-CB663CAC64C5}"/>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5" name="Footer Placeholder 4">
            <a:extLst>
              <a:ext uri="{FF2B5EF4-FFF2-40B4-BE49-F238E27FC236}">
                <a16:creationId xmlns:a16="http://schemas.microsoft.com/office/drawing/2014/main" id="{DF97B3D8-DDB3-531E-4B15-507DE71D6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2196B-1038-1927-157B-100D2EF4F1F8}"/>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750368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73203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561868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885702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29DB6-6922-4725-43EF-F67CBC5F6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0AB6C9-24F0-9342-197B-A932797C8A06}"/>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4" name="Footer Placeholder 3">
            <a:extLst>
              <a:ext uri="{FF2B5EF4-FFF2-40B4-BE49-F238E27FC236}">
                <a16:creationId xmlns:a16="http://schemas.microsoft.com/office/drawing/2014/main" id="{08AE1ADB-6760-2A7D-0ACD-E044128F71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931D80-BC88-E12E-2DB8-87FB82DA0BD7}"/>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06781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99483-1C3F-BD57-B2A9-1BA69103A012}"/>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3" name="Footer Placeholder 2">
            <a:extLst>
              <a:ext uri="{FF2B5EF4-FFF2-40B4-BE49-F238E27FC236}">
                <a16:creationId xmlns:a16="http://schemas.microsoft.com/office/drawing/2014/main" id="{DE200055-5584-24DE-2FF9-2620C7563D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796618-78B7-1E1B-A287-B473D132DFE4}"/>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97387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7B77-CBF7-E8D7-1D00-495EE001DA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DD2AE6-738E-DFA8-01F0-F009F2E0CB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253BAA-7D53-AC5A-F185-836DB39B27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06637-72D4-AF03-86C9-3A2832F39D47}"/>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6" name="Footer Placeholder 5">
            <a:extLst>
              <a:ext uri="{FF2B5EF4-FFF2-40B4-BE49-F238E27FC236}">
                <a16:creationId xmlns:a16="http://schemas.microsoft.com/office/drawing/2014/main" id="{975F1B3C-B6CD-72BC-69AE-405F440AA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566A25-1DBF-1DCB-2BD6-A70E96146099}"/>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40397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40445-879C-92E5-6B7B-8507B504CE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401DA1-B102-A093-18A6-B6C66A29A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029DF4-D471-475F-5358-3FAEC6BE9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1EBFAD-3177-C657-702B-130BF2B5270F}"/>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6" name="Footer Placeholder 5">
            <a:extLst>
              <a:ext uri="{FF2B5EF4-FFF2-40B4-BE49-F238E27FC236}">
                <a16:creationId xmlns:a16="http://schemas.microsoft.com/office/drawing/2014/main" id="{66BCD079-4BC7-FC93-203B-C8405920AA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3BD89-486D-38B4-C773-4D05F0C914AD}"/>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147153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67BE4-44D3-3069-4D42-00B55E7AE7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A484E9-7D5C-6603-355E-3CFB7EFE0B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53D10-7A99-BD66-FAAA-912C5E0823FD}"/>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5" name="Footer Placeholder 4">
            <a:extLst>
              <a:ext uri="{FF2B5EF4-FFF2-40B4-BE49-F238E27FC236}">
                <a16:creationId xmlns:a16="http://schemas.microsoft.com/office/drawing/2014/main" id="{D9CAD495-463B-0021-AB85-9520825A02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926A99-D7CF-3CCE-91C4-B422E04C015A}"/>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9719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14E568-3BE8-6C1C-6B3B-5B491670E8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7A1CEF-C9D0-EDE0-FC90-0B41959D91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15381B-F05C-BEA7-483E-FB8932AE6D02}"/>
              </a:ext>
            </a:extLst>
          </p:cNvPr>
          <p:cNvSpPr>
            <a:spLocks noGrp="1"/>
          </p:cNvSpPr>
          <p:nvPr>
            <p:ph type="dt" sz="half" idx="10"/>
          </p:nvPr>
        </p:nvSpPr>
        <p:spPr/>
        <p:txBody>
          <a:bodyPr/>
          <a:lstStyle/>
          <a:p>
            <a:fld id="{AD3160A9-B1E4-4AE8-B854-46ED2C2068C2}" type="datetimeFigureOut">
              <a:rPr lang="en-US" smtClean="0"/>
              <a:t>9/17/2025</a:t>
            </a:fld>
            <a:endParaRPr lang="en-US"/>
          </a:p>
        </p:txBody>
      </p:sp>
      <p:sp>
        <p:nvSpPr>
          <p:cNvPr id="5" name="Footer Placeholder 4">
            <a:extLst>
              <a:ext uri="{FF2B5EF4-FFF2-40B4-BE49-F238E27FC236}">
                <a16:creationId xmlns:a16="http://schemas.microsoft.com/office/drawing/2014/main" id="{7D9DED9A-0109-B5EB-1DBC-E510E98E12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34DDE-FDED-4949-2B3B-96D60B33C8FC}"/>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322528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31B8D3-CA1F-4ABC-EDE8-8F6B2885ED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36BE1D-977A-0803-690E-23FADAF72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CA8AE9-7EC8-F185-B68B-BC6D04D433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3160A9-B1E4-4AE8-B854-46ED2C2068C2}" type="datetimeFigureOut">
              <a:rPr lang="en-US" smtClean="0"/>
              <a:t>9/17/2025</a:t>
            </a:fld>
            <a:endParaRPr lang="en-US"/>
          </a:p>
        </p:txBody>
      </p:sp>
      <p:sp>
        <p:nvSpPr>
          <p:cNvPr id="5" name="Footer Placeholder 4">
            <a:extLst>
              <a:ext uri="{FF2B5EF4-FFF2-40B4-BE49-F238E27FC236}">
                <a16:creationId xmlns:a16="http://schemas.microsoft.com/office/drawing/2014/main" id="{E3F14104-A166-C9B5-DE49-E8A7EA6809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18BC88-2275-FC35-87B1-B849515591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8A7335-5433-4415-8B36-CAD16441EE2E}" type="slidenum">
              <a:rPr lang="en-US" smtClean="0"/>
              <a:t>‹#›</a:t>
            </a:fld>
            <a:endParaRPr lang="en-US"/>
          </a:p>
        </p:txBody>
      </p:sp>
    </p:spTree>
    <p:extLst>
      <p:ext uri="{BB962C8B-B14F-4D97-AF65-F5344CB8AC3E}">
        <p14:creationId xmlns:p14="http://schemas.microsoft.com/office/powerpoint/2010/main" val="3415447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81ACD-6120-D6F0-670E-BB0ECB337F17}"/>
              </a:ext>
            </a:extLst>
          </p:cNvPr>
          <p:cNvSpPr>
            <a:spLocks noGrp="1"/>
          </p:cNvSpPr>
          <p:nvPr>
            <p:ph type="ctrTitle"/>
          </p:nvPr>
        </p:nvSpPr>
        <p:spPr/>
        <p:txBody>
          <a:bodyPr/>
          <a:lstStyle/>
          <a:p>
            <a:r>
              <a:rPr lang="en-US" dirty="0"/>
              <a:t>Executables and Paths</a:t>
            </a:r>
          </a:p>
        </p:txBody>
      </p:sp>
      <p:sp>
        <p:nvSpPr>
          <p:cNvPr id="3" name="Subtitle 2">
            <a:extLst>
              <a:ext uri="{FF2B5EF4-FFF2-40B4-BE49-F238E27FC236}">
                <a16:creationId xmlns:a16="http://schemas.microsoft.com/office/drawing/2014/main" id="{BA03A6A7-B911-5528-D8B0-F857E7157562}"/>
              </a:ext>
            </a:extLst>
          </p:cNvPr>
          <p:cNvSpPr>
            <a:spLocks noGrp="1"/>
          </p:cNvSpPr>
          <p:nvPr>
            <p:ph type="subTitle" idx="1"/>
          </p:nvPr>
        </p:nvSpPr>
        <p:spPr/>
        <p:txBody>
          <a:bodyPr/>
          <a:lstStyle/>
          <a:p>
            <a:r>
              <a:rPr lang="en-US" dirty="0"/>
              <a:t>AI2C Techs</a:t>
            </a:r>
          </a:p>
        </p:txBody>
      </p:sp>
    </p:spTree>
    <p:extLst>
      <p:ext uri="{BB962C8B-B14F-4D97-AF65-F5344CB8AC3E}">
        <p14:creationId xmlns:p14="http://schemas.microsoft.com/office/powerpoint/2010/main" val="405122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DFC45-7600-BC6C-5698-7B23B8ACF840}"/>
              </a:ext>
            </a:extLst>
          </p:cNvPr>
          <p:cNvSpPr>
            <a:spLocks noGrp="1"/>
          </p:cNvSpPr>
          <p:nvPr>
            <p:ph type="title"/>
          </p:nvPr>
        </p:nvSpPr>
        <p:spPr/>
        <p:txBody>
          <a:bodyPr/>
          <a:lstStyle/>
          <a:p>
            <a:r>
              <a:rPr lang="en-US" dirty="0"/>
              <a:t>What is an Executable?</a:t>
            </a:r>
          </a:p>
        </p:txBody>
      </p:sp>
      <p:sp>
        <p:nvSpPr>
          <p:cNvPr id="3" name="Content Placeholder 2">
            <a:extLst>
              <a:ext uri="{FF2B5EF4-FFF2-40B4-BE49-F238E27FC236}">
                <a16:creationId xmlns:a16="http://schemas.microsoft.com/office/drawing/2014/main" id="{E28BB8F3-D0C1-D6E3-02C8-6E341B3464FF}"/>
              </a:ext>
            </a:extLst>
          </p:cNvPr>
          <p:cNvSpPr>
            <a:spLocks noGrp="1"/>
          </p:cNvSpPr>
          <p:nvPr>
            <p:ph sz="half" idx="1"/>
          </p:nvPr>
        </p:nvSpPr>
        <p:spPr/>
        <p:txBody>
          <a:bodyPr/>
          <a:lstStyle/>
          <a:p>
            <a:r>
              <a:rPr lang="en-US" dirty="0"/>
              <a:t>A binary file (typically)</a:t>
            </a:r>
          </a:p>
          <a:p>
            <a:r>
              <a:rPr lang="en-US" dirty="0"/>
              <a:t>Contains instructions and data</a:t>
            </a:r>
          </a:p>
          <a:p>
            <a:r>
              <a:rPr lang="en-US" dirty="0"/>
              <a:t>The operating system loads the instructions and data and creates a </a:t>
            </a:r>
            <a:r>
              <a:rPr lang="en-US" i="1" dirty="0"/>
              <a:t>process</a:t>
            </a:r>
            <a:r>
              <a:rPr lang="en-US" dirty="0"/>
              <a:t> to track the state of the executable</a:t>
            </a:r>
          </a:p>
          <a:p>
            <a:r>
              <a:rPr lang="en-US" dirty="0"/>
              <a:t>The process gets (eventually) scheduled for execution on the CPU</a:t>
            </a:r>
          </a:p>
          <a:p>
            <a:endParaRPr lang="en-US" dirty="0"/>
          </a:p>
        </p:txBody>
      </p:sp>
      <p:pic>
        <p:nvPicPr>
          <p:cNvPr id="5" name="Picture 2">
            <a:extLst>
              <a:ext uri="{FF2B5EF4-FFF2-40B4-BE49-F238E27FC236}">
                <a16:creationId xmlns:a16="http://schemas.microsoft.com/office/drawing/2014/main" id="{85575BB3-D737-7ABC-3723-67C2D456031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191375" y="2258219"/>
            <a:ext cx="31432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927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48A1C-C892-9F87-F73C-B56A4B41547B}"/>
              </a:ext>
            </a:extLst>
          </p:cNvPr>
          <p:cNvSpPr>
            <a:spLocks noGrp="1"/>
          </p:cNvSpPr>
          <p:nvPr>
            <p:ph type="title"/>
          </p:nvPr>
        </p:nvSpPr>
        <p:spPr/>
        <p:txBody>
          <a:bodyPr/>
          <a:lstStyle/>
          <a:p>
            <a:r>
              <a:rPr lang="en-US" dirty="0"/>
              <a:t>How do we run Executables?</a:t>
            </a:r>
          </a:p>
        </p:txBody>
      </p:sp>
      <p:sp>
        <p:nvSpPr>
          <p:cNvPr id="3" name="Content Placeholder 2">
            <a:extLst>
              <a:ext uri="{FF2B5EF4-FFF2-40B4-BE49-F238E27FC236}">
                <a16:creationId xmlns:a16="http://schemas.microsoft.com/office/drawing/2014/main" id="{C55F55B6-C98C-C64F-1038-602A3DA90D66}"/>
              </a:ext>
            </a:extLst>
          </p:cNvPr>
          <p:cNvSpPr>
            <a:spLocks noGrp="1"/>
          </p:cNvSpPr>
          <p:nvPr>
            <p:ph idx="1"/>
          </p:nvPr>
        </p:nvSpPr>
        <p:spPr/>
        <p:txBody>
          <a:bodyPr/>
          <a:lstStyle/>
          <a:p>
            <a:r>
              <a:rPr lang="en-US" dirty="0"/>
              <a:t>Double-click an icon</a:t>
            </a:r>
          </a:p>
          <a:p>
            <a:r>
              <a:rPr lang="en-US" dirty="0"/>
              <a:t>At startup</a:t>
            </a:r>
          </a:p>
          <a:p>
            <a:r>
              <a:rPr lang="en-US" dirty="0"/>
              <a:t>Type a command on the command-line</a:t>
            </a:r>
          </a:p>
          <a:p>
            <a:endParaRPr lang="en-US" dirty="0"/>
          </a:p>
          <a:p>
            <a:r>
              <a:rPr lang="en-US" dirty="0"/>
              <a:t>Operating system handles the rest</a:t>
            </a:r>
          </a:p>
        </p:txBody>
      </p:sp>
    </p:spTree>
    <p:extLst>
      <p:ext uri="{BB962C8B-B14F-4D97-AF65-F5344CB8AC3E}">
        <p14:creationId xmlns:p14="http://schemas.microsoft.com/office/powerpoint/2010/main" val="3943301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B94F-656C-A0EA-4C95-DFD37F906701}"/>
              </a:ext>
            </a:extLst>
          </p:cNvPr>
          <p:cNvSpPr>
            <a:spLocks noGrp="1"/>
          </p:cNvSpPr>
          <p:nvPr>
            <p:ph type="title"/>
          </p:nvPr>
        </p:nvSpPr>
        <p:spPr/>
        <p:txBody>
          <a:bodyPr/>
          <a:lstStyle/>
          <a:p>
            <a:r>
              <a:rPr lang="en-US" dirty="0"/>
              <a:t>Where are executables located?</a:t>
            </a:r>
          </a:p>
        </p:txBody>
      </p:sp>
      <p:sp>
        <p:nvSpPr>
          <p:cNvPr id="6" name="Content Placeholder 5">
            <a:extLst>
              <a:ext uri="{FF2B5EF4-FFF2-40B4-BE49-F238E27FC236}">
                <a16:creationId xmlns:a16="http://schemas.microsoft.com/office/drawing/2014/main" id="{818D3BB1-F826-5753-39B9-EDA271169D85}"/>
              </a:ext>
            </a:extLst>
          </p:cNvPr>
          <p:cNvSpPr>
            <a:spLocks noGrp="1"/>
          </p:cNvSpPr>
          <p:nvPr>
            <p:ph sz="half" idx="2"/>
          </p:nvPr>
        </p:nvSpPr>
        <p:spPr>
          <a:xfrm>
            <a:off x="7385538" y="1297216"/>
            <a:ext cx="5181600" cy="4351338"/>
          </a:xfrm>
        </p:spPr>
        <p:txBody>
          <a:bodyPr>
            <a:normAutofit/>
          </a:bodyPr>
          <a:lstStyle/>
          <a:p>
            <a:r>
              <a:rPr lang="en-US" dirty="0"/>
              <a:t>Typically stored on the local file system</a:t>
            </a:r>
          </a:p>
          <a:p>
            <a:r>
              <a:rPr lang="en-US" dirty="0"/>
              <a:t>The OS needs to know the location so it can process/load the file contents</a:t>
            </a:r>
          </a:p>
          <a:p>
            <a:endParaRPr lang="en-US" dirty="0"/>
          </a:p>
          <a:p>
            <a:r>
              <a:rPr lang="en-US" dirty="0"/>
              <a:t>In theory, we need to type the full path to the executable </a:t>
            </a:r>
          </a:p>
          <a:p>
            <a:r>
              <a:rPr lang="en-US" dirty="0"/>
              <a:t>Why don’t we though? </a:t>
            </a:r>
          </a:p>
          <a:p>
            <a:endParaRPr lang="en-US" dirty="0"/>
          </a:p>
          <a:p>
            <a:endParaRPr lang="en-US" dirty="0"/>
          </a:p>
        </p:txBody>
      </p:sp>
      <p:pic>
        <p:nvPicPr>
          <p:cNvPr id="8" name="Content Placeholder 7">
            <a:extLst>
              <a:ext uri="{FF2B5EF4-FFF2-40B4-BE49-F238E27FC236}">
                <a16:creationId xmlns:a16="http://schemas.microsoft.com/office/drawing/2014/main" id="{E7D1E45F-5693-CDE7-2BB0-9D6573841A2A}"/>
              </a:ext>
            </a:extLst>
          </p:cNvPr>
          <p:cNvPicPr>
            <a:picLocks noGrp="1" noChangeAspect="1"/>
          </p:cNvPicPr>
          <p:nvPr>
            <p:ph sz="half" idx="1"/>
          </p:nvPr>
        </p:nvPicPr>
        <p:blipFill>
          <a:blip r:embed="rId2"/>
          <a:stretch>
            <a:fillRect/>
          </a:stretch>
        </p:blipFill>
        <p:spPr>
          <a:xfrm>
            <a:off x="0" y="1297216"/>
            <a:ext cx="7385538" cy="4767609"/>
          </a:xfrm>
          <a:prstGeom prst="rect">
            <a:avLst/>
          </a:prstGeom>
        </p:spPr>
      </p:pic>
    </p:spTree>
    <p:extLst>
      <p:ext uri="{BB962C8B-B14F-4D97-AF65-F5344CB8AC3E}">
        <p14:creationId xmlns:p14="http://schemas.microsoft.com/office/powerpoint/2010/main" val="4017948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A6F0-3118-5272-41B9-96DF7DD088E3}"/>
              </a:ext>
            </a:extLst>
          </p:cNvPr>
          <p:cNvSpPr>
            <a:spLocks noGrp="1"/>
          </p:cNvSpPr>
          <p:nvPr>
            <p:ph type="title"/>
          </p:nvPr>
        </p:nvSpPr>
        <p:spPr/>
        <p:txBody>
          <a:bodyPr/>
          <a:lstStyle/>
          <a:p>
            <a:r>
              <a:rPr lang="en-US" dirty="0"/>
              <a:t>How are executables found?</a:t>
            </a:r>
          </a:p>
        </p:txBody>
      </p:sp>
      <p:pic>
        <p:nvPicPr>
          <p:cNvPr id="1026" name="Picture 2">
            <a:extLst>
              <a:ext uri="{FF2B5EF4-FFF2-40B4-BE49-F238E27FC236}">
                <a16:creationId xmlns:a16="http://schemas.microsoft.com/office/drawing/2014/main" id="{9736BA2A-4C6E-F8C2-05E9-4DF4AF448A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0680" y="1487488"/>
            <a:ext cx="8752840" cy="492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167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D57B2-713C-7765-DCEC-79F3EA9020A9}"/>
              </a:ext>
            </a:extLst>
          </p:cNvPr>
          <p:cNvSpPr>
            <a:spLocks noGrp="1"/>
          </p:cNvSpPr>
          <p:nvPr>
            <p:ph type="title"/>
          </p:nvPr>
        </p:nvSpPr>
        <p:spPr/>
        <p:txBody>
          <a:bodyPr/>
          <a:lstStyle/>
          <a:p>
            <a:r>
              <a:rPr lang="en-US" dirty="0"/>
              <a:t>The PATH variable</a:t>
            </a:r>
          </a:p>
        </p:txBody>
      </p:sp>
      <p:sp>
        <p:nvSpPr>
          <p:cNvPr id="4" name="Text Placeholder 3">
            <a:extLst>
              <a:ext uri="{FF2B5EF4-FFF2-40B4-BE49-F238E27FC236}">
                <a16:creationId xmlns:a16="http://schemas.microsoft.com/office/drawing/2014/main" id="{41BFF26D-E8E4-A533-8193-27E34AE1A52B}"/>
              </a:ext>
            </a:extLst>
          </p:cNvPr>
          <p:cNvSpPr>
            <a:spLocks noGrp="1"/>
          </p:cNvSpPr>
          <p:nvPr>
            <p:ph type="body" idx="1"/>
          </p:nvPr>
        </p:nvSpPr>
        <p:spPr/>
        <p:txBody>
          <a:bodyPr/>
          <a:lstStyle/>
          <a:p>
            <a:r>
              <a:rPr lang="en-US" dirty="0"/>
              <a:t>Windows</a:t>
            </a:r>
          </a:p>
        </p:txBody>
      </p:sp>
      <p:sp>
        <p:nvSpPr>
          <p:cNvPr id="5" name="Content Placeholder 4">
            <a:extLst>
              <a:ext uri="{FF2B5EF4-FFF2-40B4-BE49-F238E27FC236}">
                <a16:creationId xmlns:a16="http://schemas.microsoft.com/office/drawing/2014/main" id="{874050EF-79C9-6E15-702E-4920E9702599}"/>
              </a:ext>
            </a:extLst>
          </p:cNvPr>
          <p:cNvSpPr>
            <a:spLocks noGrp="1"/>
          </p:cNvSpPr>
          <p:nvPr>
            <p:ph sz="half" idx="2"/>
          </p:nvPr>
        </p:nvSpPr>
        <p:spPr/>
        <p:txBody>
          <a:bodyPr>
            <a:normAutofit/>
          </a:bodyPr>
          <a:lstStyle/>
          <a:p>
            <a:r>
              <a:rPr lang="en-US" dirty="0"/>
              <a:t>System Properties </a:t>
            </a:r>
            <a:r>
              <a:rPr lang="en-US" dirty="0">
                <a:sym typeface="Wingdings" panose="05000000000000000000" pitchFamily="2" charset="2"/>
              </a:rPr>
              <a:t> Environment Variables  Path</a:t>
            </a:r>
          </a:p>
          <a:p>
            <a:r>
              <a:rPr lang="en-US" dirty="0" err="1">
                <a:sym typeface="Wingdings" panose="05000000000000000000" pitchFamily="2" charset="2"/>
              </a:rPr>
              <a:t>Powershell</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err="1">
                <a:latin typeface="Courier New" panose="02070309020205020404" pitchFamily="49" charset="0"/>
                <a:cs typeface="Courier New" panose="02070309020205020404" pitchFamily="49" charset="0"/>
                <a:sym typeface="Wingdings" panose="05000000000000000000" pitchFamily="2" charset="2"/>
              </a:rPr>
              <a:t>env:path</a:t>
            </a:r>
            <a:endParaRPr lang="en-US" dirty="0">
              <a:latin typeface="Courier New" panose="02070309020205020404" pitchFamily="49" charset="0"/>
              <a:cs typeface="Courier New" panose="02070309020205020404" pitchFamily="49" charset="0"/>
              <a:sym typeface="Wingdings" panose="05000000000000000000" pitchFamily="2" charset="2"/>
            </a:endParaRPr>
          </a:p>
          <a:p>
            <a:r>
              <a:rPr lang="en-US" dirty="0" err="1">
                <a:sym typeface="Wingdings" panose="05000000000000000000" pitchFamily="2" charset="2"/>
              </a:rPr>
              <a:t>Cmd</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set path</a:t>
            </a:r>
          </a:p>
          <a:p>
            <a:pPr marL="0" indent="0">
              <a:buNone/>
            </a:pPr>
            <a:endParaRPr lang="en-US" dirty="0">
              <a:sym typeface="Wingdings" panose="05000000000000000000" pitchFamily="2" charset="2"/>
            </a:endParaRPr>
          </a:p>
          <a:p>
            <a:r>
              <a:rPr lang="en-US" dirty="0">
                <a:sym typeface="Wingdings" panose="05000000000000000000" pitchFamily="2" charset="2"/>
              </a:rPr>
              <a:t>What does it look like?</a:t>
            </a:r>
          </a:p>
          <a:p>
            <a:r>
              <a:rPr lang="en-US" dirty="0">
                <a:sym typeface="Wingdings" panose="05000000000000000000" pitchFamily="2" charset="2"/>
              </a:rPr>
              <a:t>System and user level</a:t>
            </a:r>
          </a:p>
          <a:p>
            <a:endParaRPr lang="en-US" dirty="0"/>
          </a:p>
        </p:txBody>
      </p:sp>
      <p:sp>
        <p:nvSpPr>
          <p:cNvPr id="6" name="Text Placeholder 5">
            <a:extLst>
              <a:ext uri="{FF2B5EF4-FFF2-40B4-BE49-F238E27FC236}">
                <a16:creationId xmlns:a16="http://schemas.microsoft.com/office/drawing/2014/main" id="{A80B3CA4-4F95-AADF-4534-1975F07C2478}"/>
              </a:ext>
            </a:extLst>
          </p:cNvPr>
          <p:cNvSpPr>
            <a:spLocks noGrp="1"/>
          </p:cNvSpPr>
          <p:nvPr>
            <p:ph type="body" sz="quarter" idx="3"/>
          </p:nvPr>
        </p:nvSpPr>
        <p:spPr/>
        <p:txBody>
          <a:bodyPr/>
          <a:lstStyle/>
          <a:p>
            <a:r>
              <a:rPr lang="en-US" dirty="0"/>
              <a:t>Linux</a:t>
            </a:r>
          </a:p>
        </p:txBody>
      </p:sp>
      <p:sp>
        <p:nvSpPr>
          <p:cNvPr id="7" name="Content Placeholder 6">
            <a:extLst>
              <a:ext uri="{FF2B5EF4-FFF2-40B4-BE49-F238E27FC236}">
                <a16:creationId xmlns:a16="http://schemas.microsoft.com/office/drawing/2014/main" id="{0738A67A-37C6-2FFC-5E4B-1FA460D02EF4}"/>
              </a:ext>
            </a:extLst>
          </p:cNvPr>
          <p:cNvSpPr>
            <a:spLocks noGrp="1"/>
          </p:cNvSpPr>
          <p:nvPr>
            <p:ph sz="quarter" idx="4"/>
          </p:nvPr>
        </p:nvSpPr>
        <p:spPr/>
        <p:txBody>
          <a:bodyPr>
            <a:normAutofit/>
          </a:bodyPr>
          <a:lstStyle/>
          <a:p>
            <a:r>
              <a:rPr lang="en-US" dirty="0">
                <a:latin typeface="Courier New" panose="02070309020205020404" pitchFamily="49" charset="0"/>
                <a:cs typeface="Courier New" panose="02070309020205020404" pitchFamily="49" charset="0"/>
              </a:rPr>
              <a:t>echo $PATH</a:t>
            </a:r>
          </a:p>
          <a:p>
            <a:endParaRPr lang="en-US" dirty="0">
              <a:cs typeface="Courier New" panose="02070309020205020404" pitchFamily="49" charset="0"/>
            </a:endParaRPr>
          </a:p>
        </p:txBody>
      </p:sp>
    </p:spTree>
    <p:extLst>
      <p:ext uri="{BB962C8B-B14F-4D97-AF65-F5344CB8AC3E}">
        <p14:creationId xmlns:p14="http://schemas.microsoft.com/office/powerpoint/2010/main" val="527736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6224DD-6DF5-F5D1-5AFF-9A17767A8ED0}"/>
              </a:ext>
            </a:extLst>
          </p:cNvPr>
          <p:cNvSpPr>
            <a:spLocks noGrp="1"/>
          </p:cNvSpPr>
          <p:nvPr>
            <p:ph type="title"/>
          </p:nvPr>
        </p:nvSpPr>
        <p:spPr/>
        <p:txBody>
          <a:bodyPr/>
          <a:lstStyle/>
          <a:p>
            <a:r>
              <a:rPr lang="en-US" dirty="0"/>
              <a:t>Inspecting the PATH</a:t>
            </a:r>
          </a:p>
        </p:txBody>
      </p:sp>
      <p:sp>
        <p:nvSpPr>
          <p:cNvPr id="8" name="Content Placeholder 7">
            <a:extLst>
              <a:ext uri="{FF2B5EF4-FFF2-40B4-BE49-F238E27FC236}">
                <a16:creationId xmlns:a16="http://schemas.microsoft.com/office/drawing/2014/main" id="{A17E43E9-111D-C4CA-BF7B-6F371E16F110}"/>
              </a:ext>
            </a:extLst>
          </p:cNvPr>
          <p:cNvSpPr>
            <a:spLocks noGrp="1"/>
          </p:cNvSpPr>
          <p:nvPr>
            <p:ph idx="1"/>
          </p:nvPr>
        </p:nvSpPr>
        <p:spPr/>
        <p:txBody>
          <a:bodyPr/>
          <a:lstStyle/>
          <a:p>
            <a:r>
              <a:rPr lang="en-US" dirty="0"/>
              <a:t>Windows &amp; Linux demo</a:t>
            </a:r>
          </a:p>
        </p:txBody>
      </p:sp>
    </p:spTree>
    <p:extLst>
      <p:ext uri="{BB962C8B-B14F-4D97-AF65-F5344CB8AC3E}">
        <p14:creationId xmlns:p14="http://schemas.microsoft.com/office/powerpoint/2010/main" val="345279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58D5-CA01-98E4-E796-DFCF731E8ABE}"/>
              </a:ext>
            </a:extLst>
          </p:cNvPr>
          <p:cNvSpPr>
            <a:spLocks noGrp="1"/>
          </p:cNvSpPr>
          <p:nvPr>
            <p:ph type="title"/>
          </p:nvPr>
        </p:nvSpPr>
        <p:spPr/>
        <p:txBody>
          <a:bodyPr/>
          <a:lstStyle/>
          <a:p>
            <a:r>
              <a:rPr lang="en-US" dirty="0"/>
              <a:t>What if something isn’t on the PATH?</a:t>
            </a:r>
          </a:p>
        </p:txBody>
      </p:sp>
      <p:sp>
        <p:nvSpPr>
          <p:cNvPr id="3" name="Content Placeholder 2">
            <a:extLst>
              <a:ext uri="{FF2B5EF4-FFF2-40B4-BE49-F238E27FC236}">
                <a16:creationId xmlns:a16="http://schemas.microsoft.com/office/drawing/2014/main" id="{457CD518-363A-E5B5-C00C-0B8AAB18AB58}"/>
              </a:ext>
            </a:extLst>
          </p:cNvPr>
          <p:cNvSpPr>
            <a:spLocks noGrp="1"/>
          </p:cNvSpPr>
          <p:nvPr>
            <p:ph idx="1"/>
          </p:nvPr>
        </p:nvSpPr>
        <p:spPr/>
        <p:txBody>
          <a:bodyPr/>
          <a:lstStyle/>
          <a:p>
            <a:r>
              <a:rPr lang="en-US" dirty="0"/>
              <a:t>What do you think happens?</a:t>
            </a:r>
          </a:p>
        </p:txBody>
      </p:sp>
    </p:spTree>
    <p:extLst>
      <p:ext uri="{BB962C8B-B14F-4D97-AF65-F5344CB8AC3E}">
        <p14:creationId xmlns:p14="http://schemas.microsoft.com/office/powerpoint/2010/main" val="3478009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83BEB-6B8A-4F55-D4E5-5B6F95718146}"/>
              </a:ext>
            </a:extLst>
          </p:cNvPr>
          <p:cNvSpPr>
            <a:spLocks noGrp="1"/>
          </p:cNvSpPr>
          <p:nvPr>
            <p:ph type="title"/>
          </p:nvPr>
        </p:nvSpPr>
        <p:spPr/>
        <p:txBody>
          <a:bodyPr/>
          <a:lstStyle/>
          <a:p>
            <a:r>
              <a:rPr lang="en-US" dirty="0"/>
              <a:t>A Side Note:  Environment Variables</a:t>
            </a:r>
          </a:p>
        </p:txBody>
      </p:sp>
      <p:sp>
        <p:nvSpPr>
          <p:cNvPr id="3" name="Content Placeholder 2">
            <a:extLst>
              <a:ext uri="{FF2B5EF4-FFF2-40B4-BE49-F238E27FC236}">
                <a16:creationId xmlns:a16="http://schemas.microsoft.com/office/drawing/2014/main" id="{5E10BD81-2017-5477-FCFE-493F8DE98352}"/>
              </a:ext>
            </a:extLst>
          </p:cNvPr>
          <p:cNvSpPr>
            <a:spLocks noGrp="1"/>
          </p:cNvSpPr>
          <p:nvPr>
            <p:ph idx="1"/>
          </p:nvPr>
        </p:nvSpPr>
        <p:spPr/>
        <p:txBody>
          <a:bodyPr/>
          <a:lstStyle/>
          <a:p>
            <a:r>
              <a:rPr lang="en-US" dirty="0"/>
              <a:t>Variables maintained at the OS level</a:t>
            </a:r>
          </a:p>
          <a:p>
            <a:r>
              <a:rPr lang="en-US" dirty="0"/>
              <a:t>Typically accessed as strings (but obvi can store numbers or other values as strings)</a:t>
            </a:r>
          </a:p>
          <a:p>
            <a:r>
              <a:rPr lang="en-US" dirty="0"/>
              <a:t>Can be modified and adjusted on the fly</a:t>
            </a:r>
          </a:p>
          <a:p>
            <a:r>
              <a:rPr lang="en-US" dirty="0"/>
              <a:t>PATH is just one of many typical variables</a:t>
            </a:r>
          </a:p>
        </p:txBody>
      </p:sp>
    </p:spTree>
    <p:extLst>
      <p:ext uri="{BB962C8B-B14F-4D97-AF65-F5344CB8AC3E}">
        <p14:creationId xmlns:p14="http://schemas.microsoft.com/office/powerpoint/2010/main" val="173264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940C8-04DC-F0F4-7ADA-2AFE9ADEC654}"/>
              </a:ext>
            </a:extLst>
          </p:cNvPr>
          <p:cNvSpPr>
            <a:spLocks noGrp="1"/>
          </p:cNvSpPr>
          <p:nvPr>
            <p:ph type="title"/>
          </p:nvPr>
        </p:nvSpPr>
        <p:spPr/>
        <p:txBody>
          <a:bodyPr/>
          <a:lstStyle/>
          <a:p>
            <a:r>
              <a:rPr lang="en-US" dirty="0"/>
              <a:t>Virtual Environments</a:t>
            </a:r>
          </a:p>
        </p:txBody>
      </p:sp>
      <p:sp>
        <p:nvSpPr>
          <p:cNvPr id="5" name="Text Placeholder 4">
            <a:extLst>
              <a:ext uri="{FF2B5EF4-FFF2-40B4-BE49-F238E27FC236}">
                <a16:creationId xmlns:a16="http://schemas.microsoft.com/office/drawing/2014/main" id="{3A3E69D4-E667-FE19-4190-0EE4A93ACC3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3896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92B841-00FE-6472-A864-20EA95ABB18E}"/>
              </a:ext>
            </a:extLst>
          </p:cNvPr>
          <p:cNvSpPr>
            <a:spLocks noGrp="1"/>
          </p:cNvSpPr>
          <p:nvPr>
            <p:ph type="title"/>
          </p:nvPr>
        </p:nvSpPr>
        <p:spPr/>
        <p:txBody>
          <a:bodyPr/>
          <a:lstStyle/>
          <a:p>
            <a:r>
              <a:rPr lang="en-US" dirty="0"/>
              <a:t>Inspecting the virtual environment</a:t>
            </a:r>
          </a:p>
        </p:txBody>
      </p:sp>
      <p:sp>
        <p:nvSpPr>
          <p:cNvPr id="5" name="Content Placeholder 4">
            <a:extLst>
              <a:ext uri="{FF2B5EF4-FFF2-40B4-BE49-F238E27FC236}">
                <a16:creationId xmlns:a16="http://schemas.microsoft.com/office/drawing/2014/main" id="{73F93302-32C4-FEEC-2499-AA23EAF896FF}"/>
              </a:ext>
            </a:extLst>
          </p:cNvPr>
          <p:cNvSpPr>
            <a:spLocks noGrp="1"/>
          </p:cNvSpPr>
          <p:nvPr>
            <p:ph idx="1"/>
          </p:nvPr>
        </p:nvSpPr>
        <p:spPr>
          <a:xfrm>
            <a:off x="838200" y="1825624"/>
            <a:ext cx="8738461" cy="4903421"/>
          </a:xfrm>
        </p:spPr>
        <p:txBody>
          <a:bodyPr>
            <a:normAutofit lnSpcReduction="10000"/>
          </a:bodyPr>
          <a:lstStyle/>
          <a:p>
            <a:r>
              <a:rPr lang="en-US" dirty="0"/>
              <a:t>Built to help manage “dependency hell”</a:t>
            </a:r>
          </a:p>
          <a:p>
            <a:r>
              <a:rPr lang="en-US" dirty="0"/>
              <a:t>Creates a folder inside your directory</a:t>
            </a:r>
          </a:p>
          <a:p>
            <a:r>
              <a:rPr lang="en-US" dirty="0"/>
              <a:t>Copies over executables and “site-packages”</a:t>
            </a:r>
          </a:p>
          <a:p>
            <a:r>
              <a:rPr lang="en-US" dirty="0"/>
              <a:t>Creates some scripts and config for later use</a:t>
            </a:r>
          </a:p>
          <a:p>
            <a:endParaRPr lang="en-US" dirty="0"/>
          </a:p>
          <a:p>
            <a:r>
              <a:rPr lang="en-US" dirty="0"/>
              <a:t>Comes with its own trials and tribulations</a:t>
            </a:r>
          </a:p>
          <a:p>
            <a:endParaRPr lang="en-US" dirty="0"/>
          </a:p>
          <a:p>
            <a:r>
              <a:rPr lang="en-US" dirty="0"/>
              <a:t>Inspect the contents of the Scripts folder, what do you notice?</a:t>
            </a:r>
          </a:p>
          <a:p>
            <a:r>
              <a:rPr lang="en-US" dirty="0"/>
              <a:t>Create a </a:t>
            </a:r>
            <a:r>
              <a:rPr lang="en-US" dirty="0" err="1"/>
              <a:t>venv</a:t>
            </a:r>
            <a:r>
              <a:rPr lang="en-US" dirty="0"/>
              <a:t> and inspect the activate.bat file, what do you notice? (look for manipulating the path variable)</a:t>
            </a:r>
          </a:p>
          <a:p>
            <a:endParaRPr lang="en-US" dirty="0"/>
          </a:p>
        </p:txBody>
      </p:sp>
      <p:pic>
        <p:nvPicPr>
          <p:cNvPr id="7" name="Picture 6">
            <a:extLst>
              <a:ext uri="{FF2B5EF4-FFF2-40B4-BE49-F238E27FC236}">
                <a16:creationId xmlns:a16="http://schemas.microsoft.com/office/drawing/2014/main" id="{E62C367E-0637-B684-A1D4-93F30CD2F652}"/>
              </a:ext>
            </a:extLst>
          </p:cNvPr>
          <p:cNvPicPr>
            <a:picLocks noChangeAspect="1"/>
          </p:cNvPicPr>
          <p:nvPr/>
        </p:nvPicPr>
        <p:blipFill>
          <a:blip r:embed="rId3"/>
          <a:stretch>
            <a:fillRect/>
          </a:stretch>
        </p:blipFill>
        <p:spPr>
          <a:xfrm>
            <a:off x="9576661" y="0"/>
            <a:ext cx="2615339" cy="6858000"/>
          </a:xfrm>
          <a:prstGeom prst="rect">
            <a:avLst/>
          </a:prstGeom>
        </p:spPr>
      </p:pic>
    </p:spTree>
    <p:extLst>
      <p:ext uri="{BB962C8B-B14F-4D97-AF65-F5344CB8AC3E}">
        <p14:creationId xmlns:p14="http://schemas.microsoft.com/office/powerpoint/2010/main" val="1105732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C5B137-87D9-F90E-373F-0D20830C451A}"/>
              </a:ext>
            </a:extLst>
          </p:cNvPr>
          <p:cNvSpPr>
            <a:spLocks noGrp="1"/>
          </p:cNvSpPr>
          <p:nvPr>
            <p:ph type="title"/>
          </p:nvPr>
        </p:nvSpPr>
        <p:spPr/>
        <p:txBody>
          <a:bodyPr/>
          <a:lstStyle/>
          <a:p>
            <a:r>
              <a:rPr lang="en-US" dirty="0"/>
              <a:t>VS Code</a:t>
            </a:r>
          </a:p>
        </p:txBody>
      </p:sp>
      <p:sp>
        <p:nvSpPr>
          <p:cNvPr id="5" name="Text Placeholder 4">
            <a:extLst>
              <a:ext uri="{FF2B5EF4-FFF2-40B4-BE49-F238E27FC236}">
                <a16:creationId xmlns:a16="http://schemas.microsoft.com/office/drawing/2014/main" id="{C041B2F9-7E33-6DB6-D348-00DFAAEC3E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33213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0193CF-D0CD-139F-AAB8-50CC580D2C43}"/>
              </a:ext>
            </a:extLst>
          </p:cNvPr>
          <p:cNvSpPr>
            <a:spLocks noGrp="1"/>
          </p:cNvSpPr>
          <p:nvPr>
            <p:ph type="title"/>
          </p:nvPr>
        </p:nvSpPr>
        <p:spPr/>
        <p:txBody>
          <a:bodyPr/>
          <a:lstStyle/>
          <a:p>
            <a:r>
              <a:rPr lang="en-US" dirty="0"/>
              <a:t>…can get you in trouble</a:t>
            </a:r>
          </a:p>
        </p:txBody>
      </p:sp>
      <p:pic>
        <p:nvPicPr>
          <p:cNvPr id="7" name="Picture 6">
            <a:extLst>
              <a:ext uri="{FF2B5EF4-FFF2-40B4-BE49-F238E27FC236}">
                <a16:creationId xmlns:a16="http://schemas.microsoft.com/office/drawing/2014/main" id="{AE4C2BAC-A4AC-CD88-EDC8-E913F7DD9CB7}"/>
              </a:ext>
            </a:extLst>
          </p:cNvPr>
          <p:cNvPicPr>
            <a:picLocks noChangeAspect="1"/>
          </p:cNvPicPr>
          <p:nvPr/>
        </p:nvPicPr>
        <p:blipFill>
          <a:blip r:embed="rId3"/>
          <a:stretch>
            <a:fillRect/>
          </a:stretch>
        </p:blipFill>
        <p:spPr>
          <a:xfrm>
            <a:off x="7418721" y="4780219"/>
            <a:ext cx="2381582" cy="676369"/>
          </a:xfrm>
          <a:prstGeom prst="rect">
            <a:avLst/>
          </a:prstGeom>
        </p:spPr>
      </p:pic>
      <p:pic>
        <p:nvPicPr>
          <p:cNvPr id="9" name="Picture 8">
            <a:extLst>
              <a:ext uri="{FF2B5EF4-FFF2-40B4-BE49-F238E27FC236}">
                <a16:creationId xmlns:a16="http://schemas.microsoft.com/office/drawing/2014/main" id="{8504D1BF-B09B-F946-4017-27DD18F2C08B}"/>
              </a:ext>
            </a:extLst>
          </p:cNvPr>
          <p:cNvPicPr>
            <a:picLocks noChangeAspect="1"/>
          </p:cNvPicPr>
          <p:nvPr/>
        </p:nvPicPr>
        <p:blipFill>
          <a:blip r:embed="rId4"/>
          <a:stretch>
            <a:fillRect/>
          </a:stretch>
        </p:blipFill>
        <p:spPr>
          <a:xfrm>
            <a:off x="5400578" y="3429000"/>
            <a:ext cx="1390844" cy="847843"/>
          </a:xfrm>
          <a:prstGeom prst="rect">
            <a:avLst/>
          </a:prstGeom>
        </p:spPr>
      </p:pic>
      <p:pic>
        <p:nvPicPr>
          <p:cNvPr id="11" name="Picture 10">
            <a:extLst>
              <a:ext uri="{FF2B5EF4-FFF2-40B4-BE49-F238E27FC236}">
                <a16:creationId xmlns:a16="http://schemas.microsoft.com/office/drawing/2014/main" id="{839C692B-F3ED-4948-DCD9-CDD87A515E86}"/>
              </a:ext>
            </a:extLst>
          </p:cNvPr>
          <p:cNvPicPr>
            <a:picLocks noChangeAspect="1"/>
          </p:cNvPicPr>
          <p:nvPr/>
        </p:nvPicPr>
        <p:blipFill>
          <a:blip r:embed="rId5"/>
          <a:stretch>
            <a:fillRect/>
          </a:stretch>
        </p:blipFill>
        <p:spPr>
          <a:xfrm>
            <a:off x="838200" y="1605858"/>
            <a:ext cx="5830114" cy="895475"/>
          </a:xfrm>
          <a:prstGeom prst="rect">
            <a:avLst/>
          </a:prstGeom>
        </p:spPr>
      </p:pic>
    </p:spTree>
    <p:extLst>
      <p:ext uri="{BB962C8B-B14F-4D97-AF65-F5344CB8AC3E}">
        <p14:creationId xmlns:p14="http://schemas.microsoft.com/office/powerpoint/2010/main" val="282814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D1BB6C-B7F3-A0B0-8821-6E33EA97FB90}"/>
              </a:ext>
            </a:extLst>
          </p:cNvPr>
          <p:cNvPicPr>
            <a:picLocks noChangeAspect="1"/>
          </p:cNvPicPr>
          <p:nvPr/>
        </p:nvPicPr>
        <p:blipFill>
          <a:blip r:embed="rId3"/>
          <a:stretch>
            <a:fillRect/>
          </a:stretch>
        </p:blipFill>
        <p:spPr>
          <a:xfrm>
            <a:off x="324729" y="0"/>
            <a:ext cx="11542542" cy="6858000"/>
          </a:xfrm>
          <a:prstGeom prst="rect">
            <a:avLst/>
          </a:prstGeom>
        </p:spPr>
      </p:pic>
      <p:sp>
        <p:nvSpPr>
          <p:cNvPr id="10" name="Rectangle 9">
            <a:extLst>
              <a:ext uri="{FF2B5EF4-FFF2-40B4-BE49-F238E27FC236}">
                <a16:creationId xmlns:a16="http://schemas.microsoft.com/office/drawing/2014/main" id="{42A90951-69A3-7A19-A244-8185B041A692}"/>
              </a:ext>
            </a:extLst>
          </p:cNvPr>
          <p:cNvSpPr/>
          <p:nvPr/>
        </p:nvSpPr>
        <p:spPr>
          <a:xfrm>
            <a:off x="4247536" y="0"/>
            <a:ext cx="2340078" cy="8052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rgbClr val="FF0000"/>
                  </a:solidFill>
                </a:ln>
                <a:solidFill>
                  <a:schemeClr val="bg1"/>
                </a:solidFill>
              </a:rPr>
              <a:t>Virtual Environment…</a:t>
            </a:r>
          </a:p>
        </p:txBody>
      </p:sp>
      <p:sp>
        <p:nvSpPr>
          <p:cNvPr id="11" name="Rectangle 10">
            <a:extLst>
              <a:ext uri="{FF2B5EF4-FFF2-40B4-BE49-F238E27FC236}">
                <a16:creationId xmlns:a16="http://schemas.microsoft.com/office/drawing/2014/main" id="{42A78BFF-DC3A-1E9A-F3B5-E1EA75529DFC}"/>
              </a:ext>
            </a:extLst>
          </p:cNvPr>
          <p:cNvSpPr/>
          <p:nvPr/>
        </p:nvSpPr>
        <p:spPr>
          <a:xfrm>
            <a:off x="324729" y="5289755"/>
            <a:ext cx="4384923" cy="505378"/>
          </a:xfrm>
          <a:prstGeom prst="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dirty="0">
                <a:ln>
                  <a:solidFill>
                    <a:schemeClr val="accent2">
                      <a:lumMod val="60000"/>
                      <a:lumOff val="40000"/>
                    </a:schemeClr>
                  </a:solidFill>
                </a:ln>
                <a:solidFill>
                  <a:schemeClr val="bg1"/>
                </a:solidFill>
              </a:rPr>
              <a:t>…PATH</a:t>
            </a:r>
          </a:p>
        </p:txBody>
      </p:sp>
      <p:sp>
        <p:nvSpPr>
          <p:cNvPr id="12" name="Rectangle 11">
            <a:extLst>
              <a:ext uri="{FF2B5EF4-FFF2-40B4-BE49-F238E27FC236}">
                <a16:creationId xmlns:a16="http://schemas.microsoft.com/office/drawing/2014/main" id="{51C1BB3F-9236-5A34-5E38-B37C6D3B334F}"/>
              </a:ext>
            </a:extLst>
          </p:cNvPr>
          <p:cNvSpPr/>
          <p:nvPr/>
        </p:nvSpPr>
        <p:spPr>
          <a:xfrm>
            <a:off x="7202130" y="3672349"/>
            <a:ext cx="2340078" cy="42770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chemeClr val="accent6">
                      <a:lumMod val="60000"/>
                      <a:lumOff val="40000"/>
                    </a:schemeClr>
                  </a:solidFill>
                </a:ln>
                <a:solidFill>
                  <a:schemeClr val="bg1"/>
                </a:solidFill>
              </a:rPr>
              <a:t>Active Interpreter…</a:t>
            </a:r>
          </a:p>
        </p:txBody>
      </p:sp>
      <p:cxnSp>
        <p:nvCxnSpPr>
          <p:cNvPr id="14" name="Straight Arrow Connector 13">
            <a:extLst>
              <a:ext uri="{FF2B5EF4-FFF2-40B4-BE49-F238E27FC236}">
                <a16:creationId xmlns:a16="http://schemas.microsoft.com/office/drawing/2014/main" id="{EB8D67C9-BD69-3EEB-47DA-7B3552F03D52}"/>
              </a:ext>
            </a:extLst>
          </p:cNvPr>
          <p:cNvCxnSpPr/>
          <p:nvPr/>
        </p:nvCxnSpPr>
        <p:spPr>
          <a:xfrm flipH="1">
            <a:off x="6587614" y="3903406"/>
            <a:ext cx="599767" cy="1052052"/>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B08FE43-87FE-8739-6C8C-694C692CC06F}"/>
              </a:ext>
            </a:extLst>
          </p:cNvPr>
          <p:cNvCxnSpPr>
            <a:cxnSpLocks/>
            <a:stCxn id="12" idx="0"/>
          </p:cNvCxnSpPr>
          <p:nvPr/>
        </p:nvCxnSpPr>
        <p:spPr>
          <a:xfrm flipV="1">
            <a:off x="8372169" y="186813"/>
            <a:ext cx="2686399" cy="3485536"/>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AD97D07-6555-6032-F844-374880D89903}"/>
              </a:ext>
            </a:extLst>
          </p:cNvPr>
          <p:cNvCxnSpPr>
            <a:cxnSpLocks/>
            <a:stCxn id="12" idx="2"/>
          </p:cNvCxnSpPr>
          <p:nvPr/>
        </p:nvCxnSpPr>
        <p:spPr>
          <a:xfrm>
            <a:off x="8372169" y="4100052"/>
            <a:ext cx="2856270" cy="2571135"/>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026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105F-9F27-B238-93A4-7EDCB77D0F84}"/>
              </a:ext>
            </a:extLst>
          </p:cNvPr>
          <p:cNvSpPr>
            <a:spLocks noGrp="1"/>
          </p:cNvSpPr>
          <p:nvPr>
            <p:ph type="title"/>
          </p:nvPr>
        </p:nvSpPr>
        <p:spPr/>
        <p:txBody>
          <a:bodyPr/>
          <a:lstStyle/>
          <a:p>
            <a:r>
              <a:rPr lang="en-US" dirty="0"/>
              <a:t>A bonus</a:t>
            </a:r>
          </a:p>
        </p:txBody>
      </p:sp>
      <p:pic>
        <p:nvPicPr>
          <p:cNvPr id="5" name="Content Placeholder 4">
            <a:extLst>
              <a:ext uri="{FF2B5EF4-FFF2-40B4-BE49-F238E27FC236}">
                <a16:creationId xmlns:a16="http://schemas.microsoft.com/office/drawing/2014/main" id="{C20DEA09-9627-D6CD-0C7C-5196473F5B92}"/>
              </a:ext>
            </a:extLst>
          </p:cNvPr>
          <p:cNvPicPr>
            <a:picLocks noGrp="1" noChangeAspect="1"/>
          </p:cNvPicPr>
          <p:nvPr>
            <p:ph idx="1"/>
          </p:nvPr>
        </p:nvPicPr>
        <p:blipFill>
          <a:blip r:embed="rId2"/>
          <a:stretch>
            <a:fillRect/>
          </a:stretch>
        </p:blipFill>
        <p:spPr>
          <a:xfrm>
            <a:off x="2837995" y="1690688"/>
            <a:ext cx="6516009" cy="1495634"/>
          </a:xfrm>
          <a:prstGeom prst="rect">
            <a:avLst/>
          </a:prstGeom>
        </p:spPr>
      </p:pic>
      <p:sp>
        <p:nvSpPr>
          <p:cNvPr id="6" name="TextBox 5">
            <a:extLst>
              <a:ext uri="{FF2B5EF4-FFF2-40B4-BE49-F238E27FC236}">
                <a16:creationId xmlns:a16="http://schemas.microsoft.com/office/drawing/2014/main" id="{0B5017E6-A34C-D42B-3C57-36F8FEAEC98F}"/>
              </a:ext>
            </a:extLst>
          </p:cNvPr>
          <p:cNvSpPr txBox="1"/>
          <p:nvPr/>
        </p:nvSpPr>
        <p:spPr>
          <a:xfrm>
            <a:off x="721360" y="3429000"/>
            <a:ext cx="10901680" cy="923330"/>
          </a:xfrm>
          <a:prstGeom prst="rect">
            <a:avLst/>
          </a:prstGeom>
          <a:noFill/>
        </p:spPr>
        <p:txBody>
          <a:bodyPr wrap="square" rtlCol="0">
            <a:spAutoFit/>
          </a:bodyPr>
          <a:lstStyle/>
          <a:p>
            <a:pPr marL="285750" indent="-285750">
              <a:buFont typeface="Arial" panose="020B0604020202020204" pitchFamily="34" charset="0"/>
              <a:buChar char="•"/>
            </a:pPr>
            <a:r>
              <a:rPr lang="en-US" dirty="0"/>
              <a:t>In this example, the first command (“python –m </a:t>
            </a:r>
            <a:r>
              <a:rPr lang="en-US" dirty="0" err="1"/>
              <a:t>venv</a:t>
            </a:r>
            <a:r>
              <a:rPr lang="en-US" dirty="0"/>
              <a:t> .</a:t>
            </a:r>
            <a:r>
              <a:rPr lang="en-US" dirty="0" err="1"/>
              <a:t>venv</a:t>
            </a:r>
            <a:r>
              <a:rPr lang="en-US" dirty="0"/>
              <a:t>”) creates a virtual environment with the version of python that is first found on the PATH.</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30323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511</Words>
  <Application>Microsoft Office PowerPoint</Application>
  <PresentationFormat>Widescreen</PresentationFormat>
  <Paragraphs>73</Paragraphs>
  <Slides>15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Courier New</vt:lpstr>
      <vt:lpstr>Wingdings</vt:lpstr>
      <vt:lpstr>Office Theme</vt:lpstr>
      <vt:lpstr>Executables and Paths</vt:lpstr>
      <vt:lpstr>What is an Executable?</vt:lpstr>
      <vt:lpstr>How do we run Executables?</vt:lpstr>
      <vt:lpstr>Where are executables located?</vt:lpstr>
      <vt:lpstr>How are executables found?</vt:lpstr>
      <vt:lpstr>The PATH variable</vt:lpstr>
      <vt:lpstr>Inspecting the PATH</vt:lpstr>
      <vt:lpstr>What if something isn’t on the PATH?</vt:lpstr>
      <vt:lpstr>A Side Note:  Environment Variables</vt:lpstr>
      <vt:lpstr>Virtual Environments</vt:lpstr>
      <vt:lpstr>Inspecting the virtual environment</vt:lpstr>
      <vt:lpstr>VS Code</vt:lpstr>
      <vt:lpstr>…can get you in trouble</vt:lpstr>
      <vt:lpstr>PowerPoint Presentation</vt:lpstr>
      <vt:lpstr>A bonus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Ethan Shafer</cp:lastModifiedBy>
  <cp:revision>59</cp:revision>
  <dcterms:created xsi:type="dcterms:W3CDTF">2025-09-17T14:29:17Z</dcterms:created>
  <dcterms:modified xsi:type="dcterms:W3CDTF">2025-09-17T15:56:33Z</dcterms:modified>
</cp:coreProperties>
</file>